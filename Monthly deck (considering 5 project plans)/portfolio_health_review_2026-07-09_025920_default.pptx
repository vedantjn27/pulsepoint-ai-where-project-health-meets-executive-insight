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Schedule</c:v>
                </c:pt>
                <c:pt idx="1">
                  <c:v>Budget</c:v>
                </c:pt>
                <c:pt idx="2">
                  <c:v>Milestones</c:v>
                </c:pt>
                <c:pt idx="3">
                  <c:v>Blockers</c:v>
                </c:pt>
                <c:pt idx="4">
                  <c:v>Sentiment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33.0</c:v>
                </c:pt>
                <c:pt idx="1">
                  <c:v>66.1</c:v>
                </c:pt>
                <c:pt idx="2">
                  <c:v>78.3</c:v>
                </c:pt>
                <c:pt idx="3">
                  <c:v>79.8</c:v>
                </c:pt>
                <c:pt idx="4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18 Jun</c:v>
                </c:pt>
                <c:pt idx="1">
                  <c:v>25 Jun</c:v>
                </c:pt>
                <c:pt idx="2">
                  <c:v>02 Jul</c:v>
                </c:pt>
                <c:pt idx="3">
                  <c:v>09 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53.6</c:v>
                </c:pt>
                <c:pt idx="1">
                  <c:v>55.9</c:v>
                </c:pt>
                <c:pt idx="2">
                  <c:v>57.2</c:v>
                </c:pt>
                <c:pt idx="3">
                  <c:v>56.7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18 Jun</c:v>
                </c:pt>
                <c:pt idx="1">
                  <c:v>25 Jun</c:v>
                </c:pt>
                <c:pt idx="2">
                  <c:v>02 Jul</c:v>
                </c:pt>
                <c:pt idx="3">
                  <c:v>09 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Amber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18 Jun</c:v>
                </c:pt>
                <c:pt idx="1">
                  <c:v>25 Jun</c:v>
                </c:pt>
                <c:pt idx="2">
                  <c:v>02 Jul</c:v>
                </c:pt>
                <c:pt idx="3">
                  <c:v>09 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18 Jun</c:v>
                </c:pt>
                <c:pt idx="1">
                  <c:v>25 Jun</c:v>
                </c:pt>
                <c:pt idx="2">
                  <c:v>02 Jul</c:v>
                </c:pt>
                <c:pt idx="3">
                  <c:v>09 Jul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45552" y="1417320"/>
            <a:ext cx="3401568" cy="2880360"/>
          </a:xfrm>
          <a:prstGeom prst="roundRect">
            <a:avLst/>
          </a:prstGeom>
          <a:solidFill>
            <a:srgbClr val="F8FAF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1719072"/>
            <a:ext cx="25603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Aptos"/>
              </a:rPr>
              <a:t>Portfolio command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57400"/>
            <a:ext cx="2606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Aptos"/>
              </a:rPr>
              <a:t>Score movement, RAG pressure, and executive actions in one client-ready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770632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1F2A44"/>
                </a:solidFill>
                <a:latin typeface="Aptos"/>
              </a:rPr>
              <a:t>Health trend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2788920"/>
            <a:ext cx="1737360" cy="12801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81160" y="2788920"/>
            <a:ext cx="1691640" cy="12801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154679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1F2A44"/>
                </a:solidFill>
                <a:latin typeface="Aptos"/>
              </a:rPr>
              <a:t>Risk pressure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172968"/>
            <a:ext cx="1737360" cy="12801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1160" y="3172968"/>
            <a:ext cx="1143000" cy="128016"/>
          </a:xfrm>
          <a:prstGeom prst="round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538727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1F2A44"/>
                </a:solidFill>
                <a:latin typeface="Aptos"/>
              </a:rPr>
              <a:t>Action clarity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3557015"/>
            <a:ext cx="1737360" cy="12801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81160" y="3557015"/>
            <a:ext cx="1417320" cy="12801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29184"/>
            <a:ext cx="2377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PulsePoint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29184"/>
            <a:ext cx="24231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Monthly portfolio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481328"/>
            <a:ext cx="8138160" cy="8412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800" b="1">
                <a:solidFill>
                  <a:srgbClr val="1F2A44"/>
                </a:solidFill>
                <a:latin typeface="Aptos"/>
              </a:rPr>
              <a:t>Executive Portfolio Health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26771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5C6470"/>
                </a:solidFill>
                <a:latin typeface="Aptos"/>
              </a:rPr>
              <a:t>July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2816352"/>
            <a:ext cx="6537960" cy="132588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2980944"/>
            <a:ext cx="6025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Aptos"/>
              </a:rPr>
              <a:t>Executive readout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310128"/>
            <a:ext cx="602589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Aptos"/>
              </a:rPr>
              <a:t>The portfolio is moving improving, but 3 Red project(s) require named executive
intervention before the next client checkpoint.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4553712"/>
            <a:ext cx="151790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700016"/>
            <a:ext cx="1225296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2F6FED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065776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303520"/>
            <a:ext cx="1261872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in portfolio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87168" y="4553712"/>
            <a:ext cx="151790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472" y="4700016"/>
            <a:ext cx="1225296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B00020"/>
                </a:solidFill>
                <a:latin typeface="Aptos"/>
              </a:rPr>
              <a:t>1/1/3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5065776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RAG Mix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33472" y="5303520"/>
            <a:ext cx="1261872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green / amber / 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9392" y="4553712"/>
            <a:ext cx="151790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700016"/>
            <a:ext cx="1225296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2F6FED"/>
                </a:solidFill>
                <a:latin typeface="Aptos"/>
              </a:rPr>
              <a:t>76%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5696" y="5065776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5303520"/>
            <a:ext cx="1261872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average data quality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71616" y="4553712"/>
            <a:ext cx="151790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700016"/>
            <a:ext cx="1225296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tos"/>
              </a:rPr>
              <a:t>Improving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065776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Trend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303520"/>
            <a:ext cx="1261872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portfolio movement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45552" y="4617720"/>
            <a:ext cx="3401568" cy="1024128"/>
          </a:xfrm>
          <a:prstGeom prst="roundRect">
            <a:avLst/>
          </a:prstGeom>
          <a:solidFill>
            <a:srgbClr val="F8FAF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745736"/>
            <a:ext cx="82296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5C6470"/>
                </a:solidFill>
                <a:latin typeface="Aptos"/>
              </a:rPr>
              <a:t>Top theme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1392" y="4736592"/>
            <a:ext cx="221284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2F6FED"/>
                </a:solidFill>
                <a:latin typeface="Aptos"/>
              </a:rPr>
              <a:t>Schedule slippage is affecting 3 pr...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038344"/>
            <a:ext cx="82296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5C6470"/>
                </a:solidFill>
                <a:latin typeface="Aptos"/>
              </a:rPr>
              <a:t>Priority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5029200"/>
            <a:ext cx="221284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B00020"/>
                </a:solidFill>
                <a:latin typeface="Aptos"/>
              </a:rPr>
              <a:t>Prioritize executive intervention f...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330951"/>
            <a:ext cx="82296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5C6470"/>
                </a:solidFill>
                <a:latin typeface="Aptos"/>
              </a:rPr>
              <a:t>Data quality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2" y="5321807"/>
            <a:ext cx="221284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1F2A44"/>
                </a:solidFill>
                <a:latin typeface="Aptos"/>
              </a:rPr>
              <a:t>76% average confidence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6053328"/>
            <a:ext cx="8138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Aptos"/>
              </a:rPr>
              <a:t>Deterministic scoring | Evidence-backed agent reasoning | Client-ready executive recommendations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473952"/>
            <a:ext cx="521208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Portfolio Health Review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69494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  <a:latin typeface="Aptos"/>
              </a:rPr>
              <a:t>Portfolio Health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758952"/>
            <a:ext cx="7132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Aptos"/>
              </a:rPr>
              <a:t>Where the portfolio stands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21208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Portfolio Health Review | July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234440"/>
          <a:ext cx="324612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978408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RAG distribution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251960" y="1234440"/>
          <a:ext cx="306324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51960" y="978408"/>
            <a:ext cx="30632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Average signal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68496"/>
            <a:ext cx="108356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Aptos"/>
              </a:rPr>
              <a:t>Project scoreboard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24528"/>
            <a:ext cx="258546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" y="4352544"/>
            <a:ext cx="713232" cy="228600"/>
          </a:xfrm>
          <a:prstGeom prst="round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64008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4663440"/>
            <a:ext cx="2292858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Vendor Portal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956048"/>
            <a:ext cx="229285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24.4 score | 97%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5212080"/>
            <a:ext cx="229285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Budget burn ratio is 1.91x, above
the 1.5x override threshold.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5858" y="4224528"/>
            <a:ext cx="258546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82162" y="4352544"/>
            <a:ext cx="713232" cy="228600"/>
          </a:xfrm>
          <a:prstGeom prst="round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8738" y="4389120"/>
            <a:ext cx="64008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2162" y="4663440"/>
            <a:ext cx="2292858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Project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2162" y="4956048"/>
            <a:ext cx="229285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47.3 score | 51%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2162" y="5212080"/>
            <a:ext cx="229285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Schedule signal is weak: Schedule
variance is -61.3 percentage...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5916" y="4224528"/>
            <a:ext cx="258546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2220" y="4352544"/>
            <a:ext cx="713232" cy="228600"/>
          </a:xfrm>
          <a:prstGeom prst="round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8796" y="4389120"/>
            <a:ext cx="64008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4663440"/>
            <a:ext cx="2292858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Project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4956048"/>
            <a:ext cx="229285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47.3 score | 40%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5212080"/>
            <a:ext cx="229285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Schedule signal is weak: Schedule
variance is -58.2 percentage...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35974" y="4224528"/>
            <a:ext cx="258546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2278" y="4352544"/>
            <a:ext cx="713232" cy="228600"/>
          </a:xfrm>
          <a:prstGeom prst="roundRect">
            <a:avLst/>
          </a:prstGeom>
          <a:solidFill>
            <a:srgbClr val="B2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8853" y="4389120"/>
            <a:ext cx="64008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2278" y="4663440"/>
            <a:ext cx="2292858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Data Migration Stabil...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2278" y="4956048"/>
            <a:ext cx="229285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67.8 score | 97%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2278" y="5212080"/>
            <a:ext cx="229285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Sentiment signal is weak: Rule-
based sentiment classified...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978408"/>
            <a:ext cx="3520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Executive implications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9248" y="1234440"/>
            <a:ext cx="3520440" cy="749808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0416" y="1362456"/>
            <a:ext cx="311810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2F6FED"/>
                </a:solidFill>
                <a:latin typeface="Aptos"/>
              </a:rPr>
              <a:t>Insight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0416" y="1655064"/>
            <a:ext cx="3118104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3 project(s) need executive attention.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99248" y="2176272"/>
            <a:ext cx="3520440" cy="749808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0416" y="2304288"/>
            <a:ext cx="311810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2F6FED"/>
                </a:solidFill>
                <a:latin typeface="Aptos"/>
              </a:rPr>
              <a:t>Insight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0416" y="2596896"/>
            <a:ext cx="3118104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2 project(s) have confidence below 70%.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99248" y="3118104"/>
            <a:ext cx="3520440" cy="749808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0416" y="3246120"/>
            <a:ext cx="311810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2F6FED"/>
                </a:solidFill>
                <a:latin typeface="Aptos"/>
              </a:rPr>
              <a:t>Insight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0416" y="3538728"/>
            <a:ext cx="3118104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Schedule slippage is affecting 3 project(s).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69494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  <a:latin typeface="Aptos"/>
              </a:rPr>
              <a:t>Cross-Project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758952"/>
            <a:ext cx="7132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Aptos"/>
              </a:rPr>
              <a:t>Movement over time, not isolated project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21208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Portfolio Health Review | July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234440"/>
          <a:ext cx="64922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978408"/>
            <a:ext cx="64922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Average portfolio score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43800" y="1234440"/>
          <a:ext cx="365760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43800" y="978408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RAG movement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63440"/>
            <a:ext cx="5257800" cy="960120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791455"/>
            <a:ext cx="485546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Aptos"/>
              </a:rPr>
              <a:t>Trend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5084064"/>
            <a:ext cx="4855464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Average health is improving, but Red concentration still requires active
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663440"/>
            <a:ext cx="4983480" cy="960120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791455"/>
            <a:ext cx="458114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2F6FED"/>
                </a:solidFill>
                <a:latin typeface="Aptos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084064"/>
            <a:ext cx="4581144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Average portfolio score moved +3.1 points from 18 Jun to 09 Jul.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69494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  <a:latin typeface="Aptos"/>
              </a:rPr>
              <a:t>Emerging Risk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758952"/>
            <a:ext cx="7132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Aptos"/>
              </a:rPr>
              <a:t>Patterns requiring leadership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21208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Portfolio Health Review | July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98348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71600"/>
            <a:ext cx="465429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2F6FED"/>
                </a:solidFill>
                <a:latin typeface="Aptos"/>
              </a:rPr>
              <a:t>Theme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654296" cy="5486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Aptos"/>
              </a:rPr>
              <a:t>Schedule slippage is affecting 3 project(s).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498348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371600"/>
            <a:ext cx="465429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B26A00"/>
                </a:solidFill>
                <a:latin typeface="Aptos"/>
              </a:rPr>
              <a:t>Theme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645920"/>
            <a:ext cx="4654296" cy="5486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Aptos"/>
              </a:rPr>
              <a:t>Budget pressure is affecting 1 project(s).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5303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Risk concentration 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43200"/>
            <a:ext cx="5303520" cy="2880360"/>
          </a:xfrm>
          <a:prstGeom prst="rect">
            <a:avLst/>
          </a:prstGeom>
          <a:solidFill>
            <a:srgbClr val="F8FAF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76088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Low urgency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862072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High urgency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62072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Low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5276088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High evidence</a:t>
            </a:r>
          </a:p>
        </p:txBody>
      </p:sp>
      <p:sp>
        <p:nvSpPr>
          <p:cNvPr id="18" name="Oval 17"/>
          <p:cNvSpPr/>
          <p:nvPr/>
        </p:nvSpPr>
        <p:spPr>
          <a:xfrm>
            <a:off x="5354726" y="4653198"/>
            <a:ext cx="256032" cy="256032"/>
          </a:xfrm>
          <a:prstGeom prst="ellipse">
            <a:avLst/>
          </a:prstGeom>
          <a:solidFill>
            <a:srgbClr val="B000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35731" y="4171584"/>
            <a:ext cx="256032" cy="256032"/>
          </a:xfrm>
          <a:prstGeom prst="ellipse">
            <a:avLst/>
          </a:prstGeom>
          <a:solidFill>
            <a:srgbClr val="B000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52928" y="4171584"/>
            <a:ext cx="256032" cy="256032"/>
          </a:xfrm>
          <a:prstGeom prst="ellipse">
            <a:avLst/>
          </a:prstGeom>
          <a:solidFill>
            <a:srgbClr val="B000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54726" y="3740444"/>
            <a:ext cx="256032" cy="256032"/>
          </a:xfrm>
          <a:prstGeom prst="ellipse">
            <a:avLst/>
          </a:prstGeom>
          <a:solidFill>
            <a:srgbClr val="B26A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23052" y="3128436"/>
            <a:ext cx="256032" cy="256032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10328"/>
            <a:ext cx="48463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Each dot is a project: right = stronger evidence, higher = greater intervention need.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743200"/>
            <a:ext cx="48920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907792"/>
            <a:ext cx="44897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2F6FED"/>
                </a:solidFill>
                <a:latin typeface="Aptos"/>
              </a:rPr>
              <a:t>Top emerging risks</a:t>
            </a:r>
          </a:p>
        </p:txBody>
      </p:sp>
      <p:sp>
        <p:nvSpPr>
          <p:cNvPr id="26" name="Oval 25"/>
          <p:cNvSpPr/>
          <p:nvPr/>
        </p:nvSpPr>
        <p:spPr>
          <a:xfrm>
            <a:off x="6510528" y="3291840"/>
            <a:ext cx="228600" cy="2286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323844"/>
            <a:ext cx="228600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273552"/>
            <a:ext cx="4160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1F2A44"/>
                </a:solidFill>
                <a:latin typeface="Aptos"/>
              </a:rPr>
              <a:t>Schedule signal is weak: Schedule variance is -61.3
percentage points against expected progress.</a:t>
            </a:r>
          </a:p>
        </p:txBody>
      </p:sp>
      <p:sp>
        <p:nvSpPr>
          <p:cNvPr id="29" name="Oval 28"/>
          <p:cNvSpPr/>
          <p:nvPr/>
        </p:nvSpPr>
        <p:spPr>
          <a:xfrm>
            <a:off x="6510528" y="3847337"/>
            <a:ext cx="228600" cy="2286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3879341"/>
            <a:ext cx="228600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829050"/>
            <a:ext cx="4160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1F2A44"/>
                </a:solidFill>
                <a:latin typeface="Aptos"/>
              </a:rPr>
              <a:t>Schedule signal is weak: Schedule variance is -58.2
percentage points against expected progress.</a:t>
            </a:r>
          </a:p>
        </p:txBody>
      </p:sp>
      <p:sp>
        <p:nvSpPr>
          <p:cNvPr id="32" name="Oval 31"/>
          <p:cNvSpPr/>
          <p:nvPr/>
        </p:nvSpPr>
        <p:spPr>
          <a:xfrm>
            <a:off x="6510528" y="4402836"/>
            <a:ext cx="228600" cy="2286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4434840"/>
            <a:ext cx="228600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384548"/>
            <a:ext cx="4160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1F2A44"/>
                </a:solidFill>
                <a:latin typeface="Aptos"/>
              </a:rPr>
              <a:t>Sentiment signal is weak: Rule-based sentiment classified
commentary as negative.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4958333"/>
            <a:ext cx="228600" cy="2286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4990338"/>
            <a:ext cx="228600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940046"/>
            <a:ext cx="4160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1F2A44"/>
                </a:solidFill>
                <a:latin typeface="Aptos"/>
              </a:rPr>
              <a:t>Budget burn ratio is 1.91x, above the 1.5x override
threshold.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69494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  <a:latin typeface="Aptos"/>
              </a:rPr>
              <a:t>Executive Intervention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758952"/>
            <a:ext cx="7132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Aptos"/>
              </a:rPr>
              <a:t>Prioritize action by health score and evidence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21208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Portfolio Health Review |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86968"/>
            <a:ext cx="58978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Score vs. confidence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5897880" cy="4480560"/>
          </a:xfrm>
          <a:prstGeom prst="rect">
            <a:avLst/>
          </a:prstGeom>
          <a:solidFill>
            <a:srgbClr val="F8FAF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188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Lower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1188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Higher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5303520"/>
            <a:ext cx="1188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Higher confidence</a:t>
            </a:r>
          </a:p>
        </p:txBody>
      </p:sp>
      <p:sp>
        <p:nvSpPr>
          <p:cNvPr id="11" name="Oval 10"/>
          <p:cNvSpPr/>
          <p:nvPr/>
        </p:nvSpPr>
        <p:spPr>
          <a:xfrm>
            <a:off x="5931255" y="4297314"/>
            <a:ext cx="329184" cy="329184"/>
          </a:xfrm>
          <a:prstGeom prst="ellipse">
            <a:avLst/>
          </a:prstGeom>
          <a:solidFill>
            <a:srgbClr val="B000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5303" y="4297314"/>
            <a:ext cx="1417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Vendor Portal</a:t>
            </a:r>
          </a:p>
        </p:txBody>
      </p:sp>
      <p:sp>
        <p:nvSpPr>
          <p:cNvPr id="13" name="Oval 12"/>
          <p:cNvSpPr/>
          <p:nvPr/>
        </p:nvSpPr>
        <p:spPr>
          <a:xfrm>
            <a:off x="3638854" y="3438784"/>
            <a:ext cx="329184" cy="329184"/>
          </a:xfrm>
          <a:prstGeom prst="ellipse">
            <a:avLst/>
          </a:prstGeom>
          <a:solidFill>
            <a:srgbClr val="B000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2902" y="3438784"/>
            <a:ext cx="1417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Project 1</a:t>
            </a:r>
          </a:p>
        </p:txBody>
      </p:sp>
      <p:sp>
        <p:nvSpPr>
          <p:cNvPr id="15" name="Oval 14"/>
          <p:cNvSpPr/>
          <p:nvPr/>
        </p:nvSpPr>
        <p:spPr>
          <a:xfrm>
            <a:off x="3090672" y="3438784"/>
            <a:ext cx="329184" cy="329184"/>
          </a:xfrm>
          <a:prstGeom prst="ellipse">
            <a:avLst/>
          </a:prstGeom>
          <a:solidFill>
            <a:srgbClr val="B000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38784"/>
            <a:ext cx="1417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Project 2</a:t>
            </a:r>
          </a:p>
        </p:txBody>
      </p:sp>
      <p:sp>
        <p:nvSpPr>
          <p:cNvPr id="17" name="Oval 16"/>
          <p:cNvSpPr/>
          <p:nvPr/>
        </p:nvSpPr>
        <p:spPr>
          <a:xfrm>
            <a:off x="5931255" y="2670230"/>
            <a:ext cx="329184" cy="329184"/>
          </a:xfrm>
          <a:prstGeom prst="ellipse">
            <a:avLst/>
          </a:prstGeom>
          <a:solidFill>
            <a:srgbClr val="B26A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5303" y="2670230"/>
            <a:ext cx="1417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Data Migration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5781751" y="157926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5799" y="1579260"/>
            <a:ext cx="1417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F2A44"/>
                </a:solidFill>
                <a:latin typeface="Aptos"/>
              </a:rPr>
              <a:t>Customer Onboarding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143000"/>
            <a:ext cx="4434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1307592"/>
            <a:ext cx="40325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B00020"/>
                </a:solidFill>
                <a:latin typeface="Aptos"/>
              </a:rPr>
              <a:t>Intervene now</a:t>
            </a:r>
          </a:p>
        </p:txBody>
      </p:sp>
      <p:sp>
        <p:nvSpPr>
          <p:cNvPr id="23" name="Oval 22"/>
          <p:cNvSpPr/>
          <p:nvPr/>
        </p:nvSpPr>
        <p:spPr>
          <a:xfrm>
            <a:off x="7104888" y="1691640"/>
            <a:ext cx="228600" cy="228600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1723644"/>
            <a:ext cx="228600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673352"/>
            <a:ext cx="3703320" cy="3429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1F2A44"/>
                </a:solidFill>
                <a:latin typeface="Aptos"/>
              </a:rPr>
              <a:t>Vendor Portal Recovery (24.4): Reforecast remaining
budget and confirm delivery scope with the project...</a:t>
            </a:r>
          </a:p>
        </p:txBody>
      </p:sp>
      <p:sp>
        <p:nvSpPr>
          <p:cNvPr id="26" name="Oval 25"/>
          <p:cNvSpPr/>
          <p:nvPr/>
        </p:nvSpPr>
        <p:spPr>
          <a:xfrm>
            <a:off x="7104888" y="2071116"/>
            <a:ext cx="228600" cy="228600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4888" y="2103120"/>
            <a:ext cx="228600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052828"/>
            <a:ext cx="3703320" cy="3429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1F2A44"/>
                </a:solidFill>
                <a:latin typeface="Aptos"/>
              </a:rPr>
              <a:t>Project 1 (47.3): Review the critical path and reset
near-term delivery commitments.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2788920"/>
            <a:ext cx="4434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04888" y="2953512"/>
            <a:ext cx="40325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B26A00"/>
                </a:solidFill>
                <a:latin typeface="Aptos"/>
              </a:rPr>
              <a:t>Watch closely</a:t>
            </a:r>
          </a:p>
        </p:txBody>
      </p:sp>
      <p:sp>
        <p:nvSpPr>
          <p:cNvPr id="31" name="Oval 30"/>
          <p:cNvSpPr/>
          <p:nvPr/>
        </p:nvSpPr>
        <p:spPr>
          <a:xfrm>
            <a:off x="7104888" y="3337560"/>
            <a:ext cx="228600" cy="22860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04888" y="3369564"/>
            <a:ext cx="228600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319272"/>
            <a:ext cx="37033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1F2A44"/>
                </a:solidFill>
                <a:latin typeface="Aptos"/>
              </a:rPr>
              <a:t>Data Migration Stabilization (67.8): Continue weekly
monitoring and keep current governance cadence.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4206240"/>
            <a:ext cx="4434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04888" y="4370831"/>
            <a:ext cx="40325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Aptos"/>
              </a:rPr>
              <a:t>Protect momentum</a:t>
            </a:r>
          </a:p>
        </p:txBody>
      </p:sp>
      <p:sp>
        <p:nvSpPr>
          <p:cNvPr id="36" name="Oval 35"/>
          <p:cNvSpPr/>
          <p:nvPr/>
        </p:nvSpPr>
        <p:spPr>
          <a:xfrm>
            <a:off x="7104888" y="4754879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04888" y="4786883"/>
            <a:ext cx="228600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736592"/>
            <a:ext cx="37033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1F2A44"/>
                </a:solidFill>
                <a:latin typeface="Aptos"/>
              </a:rPr>
              <a:t>Customer Onboarding Acceleration (96.9): Continue
weekly monitoring and keep current governance cadence.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69494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  <a:latin typeface="Aptos"/>
              </a:rPr>
              <a:t>Agent Reasoning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758952"/>
            <a:ext cx="7132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Aptos"/>
              </a:rPr>
              <a:t>What the scoring agent surfaced across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21208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Portfolio Health Review | July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35608"/>
            <a:ext cx="4745736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B00020"/>
                </a:solidFill>
                <a:latin typeface="Aptos"/>
              </a:rPr>
              <a:t>Evidence-backed risk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1984248"/>
            <a:ext cx="4745736" cy="950976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2240280"/>
            <a:ext cx="310896" cy="310896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18004"/>
            <a:ext cx="310896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203704"/>
            <a:ext cx="3886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Vendor Portal Recovery: Budget burn ratio is 1.91x, above
the 1.5x override 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3044952"/>
            <a:ext cx="4745736" cy="950976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4712" y="3300984"/>
            <a:ext cx="310896" cy="310896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3378708"/>
            <a:ext cx="310896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264408"/>
            <a:ext cx="3886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Vendor Portal Recovery: Critical blocker open for 21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" y="4105656"/>
            <a:ext cx="4745736" cy="950976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4712" y="4361688"/>
            <a:ext cx="310896" cy="310896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439412"/>
            <a:ext cx="310896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325112"/>
            <a:ext cx="3886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Project 1: Schedule signal is weak: Schedule variance is
-61.3 percentage points against expected progress.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234440"/>
            <a:ext cx="502920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435608"/>
            <a:ext cx="4517136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Aptos"/>
              </a:rPr>
              <a:t>Recommended management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2" y="1984248"/>
            <a:ext cx="4517136" cy="950976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02552" y="2240280"/>
            <a:ext cx="310896" cy="310896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2318004"/>
            <a:ext cx="310896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2203704"/>
            <a:ext cx="36576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Vendor Portal Recovery: Reforecast remaining budget and
confirm delivery scope with the project owner.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9672" y="3044952"/>
            <a:ext cx="4517136" cy="950976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02552" y="3300984"/>
            <a:ext cx="310896" cy="310896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3378708"/>
            <a:ext cx="310896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3264408"/>
            <a:ext cx="36576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Project 1: Review the critical path and reset near-term
delivery commitments.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9672" y="4105656"/>
            <a:ext cx="4517136" cy="950976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02552" y="4361688"/>
            <a:ext cx="310896" cy="310896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439412"/>
            <a:ext cx="310896" cy="118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4325112"/>
            <a:ext cx="36576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Project 2: Review the critical path and reset near-term
delivery commitments.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806440"/>
            <a:ext cx="10607040" cy="594360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934455"/>
            <a:ext cx="1020470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Aptos"/>
              </a:rPr>
              <a:t>Governance note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6227064"/>
            <a:ext cx="10204704" cy="640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The agent explains why scores moved and records the reasoning trace; deterministic scoring remains the source of truth.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69494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  <a:latin typeface="Aptos"/>
              </a:rPr>
              <a:t>30-Day Executive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758952"/>
            <a:ext cx="7132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Aptos"/>
              </a:rPr>
              <a:t>Client-ready decisions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21208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Aptos"/>
              </a:rPr>
              <a:t>Portfolio Health Review | July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337560" cy="1645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18488"/>
            <a:ext cx="438912" cy="43891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6504"/>
            <a:ext cx="438912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618488"/>
            <a:ext cx="23317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2F6FED"/>
                </a:solidFill>
                <a:latin typeface="Aptos"/>
              </a:rPr>
              <a:t>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984248"/>
            <a:ext cx="2331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C6470"/>
                </a:solidFill>
                <a:latin typeface="Aptos"/>
              </a:rPr>
              <a:t>Stabilize immediate delivery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2532888"/>
            <a:ext cx="2825496" cy="914400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688336"/>
            <a:ext cx="74980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2F6FED"/>
                </a:solidFill>
                <a:latin typeface="Aptos"/>
              </a:rPr>
              <a:t>Action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926080"/>
            <a:ext cx="2423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Prioritize executive intervention
for Red projects before the next...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3703320"/>
            <a:ext cx="2825496" cy="914400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858768"/>
            <a:ext cx="74980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2F6FED"/>
                </a:solidFill>
                <a:latin typeface="Aptos"/>
              </a:rPr>
              <a:t>Action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096511"/>
            <a:ext cx="2423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Run a portfolio budget review for
projects with burn rates...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91456"/>
            <a:ext cx="2697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Outcome: named interventions before the next checkpoint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23444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234440"/>
            <a:ext cx="3337560" cy="164592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17720" y="1618488"/>
            <a:ext cx="438912" cy="438912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746504"/>
            <a:ext cx="438912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1618488"/>
            <a:ext cx="23317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B26A00"/>
                </a:solidFill>
                <a:latin typeface="Aptos"/>
              </a:rPr>
              <a:t>Next 2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1984248"/>
            <a:ext cx="2331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C6470"/>
                </a:solidFill>
                <a:latin typeface="Aptos"/>
              </a:rPr>
              <a:t>Reset commitments and owners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45152" y="2532888"/>
            <a:ext cx="2825496" cy="914400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2688336"/>
            <a:ext cx="74980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B26A00"/>
                </a:solidFill>
                <a:latin typeface="Aptos"/>
              </a:rPr>
              <a:t>Action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2926080"/>
            <a:ext cx="2423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Assign named owners and target
resolution dates for high-...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791456"/>
            <a:ext cx="2697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Outcome: visible recovery path and accountable owners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23444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1234440"/>
            <a:ext cx="3337560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1618488"/>
            <a:ext cx="438912" cy="43891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746504"/>
            <a:ext cx="438912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1618488"/>
            <a:ext cx="23317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tos"/>
              </a:rPr>
              <a:t>By month 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1984248"/>
            <a:ext cx="2331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C6470"/>
                </a:solidFill>
                <a:latin typeface="Aptos"/>
              </a:rPr>
              <a:t>Validate movement with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48471" y="2532888"/>
            <a:ext cx="2825496" cy="914400"/>
          </a:xfrm>
          <a:prstGeom prst="roundRect">
            <a:avLst/>
          </a:prstGeom>
          <a:solidFill>
            <a:srgbClr val="F8FA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67928" y="2688336"/>
            <a:ext cx="74980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  <a:latin typeface="Aptos"/>
              </a:rPr>
              <a:t>Action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2926080"/>
            <a:ext cx="2423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Refresh project plans, regenerate
synthesis, and confirm RAG...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791456"/>
            <a:ext cx="2697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Aptos"/>
              </a:rPr>
              <a:t>Outcome: refreshed RAG view ready for client governance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596128"/>
            <a:ext cx="10698480" cy="566928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797296"/>
            <a:ext cx="10241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Aptos"/>
              </a:rPr>
              <a:t>Scoring is deterministic and configurable. The agent explains evidence and recommendations; it does not override the score. Every deck generation is
audit logged.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